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74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109728"/>
          </a:xfrm>
          <a:prstGeom prst="rect">
            <a:avLst/>
          </a:prstGeom>
          <a:solidFill>
            <a:srgbClr val="FCB021"/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34272" y="0"/>
            <a:ext cx="109728" cy="1280160"/>
          </a:xfrm>
          <a:prstGeom prst="rect">
            <a:avLst/>
          </a:prstGeom>
          <a:solidFill>
            <a:srgbClr val="FCB021"/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5029200"/>
            <a:ext cx="1371600" cy="114300"/>
          </a:xfrm>
          <a:prstGeom prst="rect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A8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EduCore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C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Електронно Училище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029200" cy="36576"/>
          </a:xfrm>
          <a:prstGeom prst="rect">
            <a:avLst/>
          </a:prstGeom>
          <a:solidFill>
            <a:srgbClr val="0770B6"/>
          </a:solidFill>
          <a:ln w="12700">
            <a:solidFill>
              <a:srgbClr val="0770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desktop learning platform built with C++ and raylib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737360" cy="502920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/ 2025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31720" y="3749040"/>
            <a:ext cx="1463040" cy="502920"/>
          </a:xfrm>
          <a:prstGeom prst="rect">
            <a:avLst/>
          </a:prstGeom>
          <a:solidFill>
            <a:srgbClr val="0770B6"/>
          </a:solidFill>
          <a:ln w="12700">
            <a:solidFill>
              <a:srgbClr val="0770B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3172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73152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03720" y="73152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23760" y="73152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43800" y="73152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63840" y="73152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83880" y="73152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3920" y="73152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23960" y="73152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83680" y="1389888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1389888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23760" y="1389888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43800" y="1389888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63840" y="1389888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83880" y="1389888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03920" y="1389888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23960" y="1389888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3680" y="2048256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03720" y="2048256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23760" y="2048256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43800" y="2048256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63840" y="2048256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83880" y="2048256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03920" y="2048256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23960" y="2048256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83680" y="2706624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03720" y="2706624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23760" y="2706624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43800" y="2706624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863840" y="2706624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183880" y="2706624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503920" y="2706624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823960" y="2706624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83680" y="3364992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903720" y="3364992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223760" y="3364992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543800" y="3364992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863840" y="3364992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183880" y="3364992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503920" y="3364992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823960" y="3364992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83680" y="402336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903720" y="402336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223760" y="402336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543800" y="402336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863840" y="402336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183880" y="402336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503920" y="4023360"/>
            <a:ext cx="64008" cy="64008"/>
          </a:xfrm>
          <a:prstGeom prst="ellipse">
            <a:avLst/>
          </a:prstGeom>
          <a:solidFill>
            <a:srgbClr val="00A8B4">
              <a:alpha val="4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823960" y="4023360"/>
            <a:ext cx="64008" cy="64008"/>
          </a:xfrm>
          <a:prstGeom prst="ellipse">
            <a:avLst/>
          </a:prstGeom>
          <a:solidFill>
            <a:srgbClr val="00A0E9">
              <a:alpha val="4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627"/>
          </a:solidFill>
          <a:ln w="12700">
            <a:solidFill>
              <a:srgbClr val="141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200400"/>
          </a:xfrm>
          <a:prstGeom prst="rect">
            <a:avLst/>
          </a:prstGeom>
          <a:solidFill>
            <a:srgbClr val="141627"/>
          </a:solidFill>
          <a:ln w="19050">
            <a:solidFill>
              <a:srgbClr val="00A8B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73152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Antonio Ivanov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645920" cy="347472"/>
          </a:xfrm>
          <a:prstGeom prst="rect">
            <a:avLst/>
          </a:prstGeom>
          <a:solidFill>
            <a:srgbClr val="00A8B4">
              <a:alpha val="80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Trainer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AIIvanov24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50592" y="1143000"/>
            <a:ext cx="2011680" cy="3200400"/>
          </a:xfrm>
          <a:prstGeom prst="rect">
            <a:avLst/>
          </a:prstGeom>
          <a:solidFill>
            <a:srgbClr val="141627"/>
          </a:solidFill>
          <a:ln w="19050">
            <a:solidFill>
              <a:srgbClr val="00A0E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50592" y="1143000"/>
            <a:ext cx="2011680" cy="73152"/>
          </a:xfrm>
          <a:prstGeom prst="rect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99232" y="1371600"/>
            <a:ext cx="914400" cy="9144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99232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70632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Ivan Lapchev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33472" y="3108960"/>
            <a:ext cx="1645920" cy="347472"/>
          </a:xfrm>
          <a:prstGeom prst="rect">
            <a:avLst/>
          </a:prstGeom>
          <a:solidFill>
            <a:srgbClr val="00A0E9">
              <a:alpha val="80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33472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42032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IGLapchev24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1143000"/>
            <a:ext cx="2011680" cy="3200400"/>
          </a:xfrm>
          <a:prstGeom prst="rect">
            <a:avLst/>
          </a:prstGeom>
          <a:solidFill>
            <a:srgbClr val="141627"/>
          </a:solidFill>
          <a:ln w="19050">
            <a:solidFill>
              <a:srgbClr val="00A0E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26864" y="1143000"/>
            <a:ext cx="2011680" cy="73152"/>
          </a:xfrm>
          <a:prstGeom prst="rect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75504" y="1371600"/>
            <a:ext cx="914400" cy="9144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75504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46904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8304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Zlatin Kostov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9744" y="3108960"/>
            <a:ext cx="1645920" cy="347472"/>
          </a:xfrm>
          <a:prstGeom prst="rect">
            <a:avLst/>
          </a:prstGeom>
          <a:solidFill>
            <a:srgbClr val="00A0E9">
              <a:alpha val="80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18304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ZDKostov24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143000"/>
            <a:ext cx="2011680" cy="3200400"/>
          </a:xfrm>
          <a:prstGeom prst="rect">
            <a:avLst/>
          </a:prstGeom>
          <a:solidFill>
            <a:srgbClr val="141627"/>
          </a:solidFill>
          <a:ln w="19050">
            <a:solidFill>
              <a:srgbClr val="FCB02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03136" y="1143000"/>
            <a:ext cx="2011680" cy="73152"/>
          </a:xfrm>
          <a:prstGeom prst="rect">
            <a:avLst/>
          </a:prstGeom>
          <a:solidFill>
            <a:srgbClr val="FCB021"/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51776" y="1371600"/>
            <a:ext cx="914400" cy="9144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51776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123176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94576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Svetoslav Dimitrov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86016" y="3108960"/>
            <a:ext cx="1645920" cy="347472"/>
          </a:xfrm>
          <a:prstGeom prst="rect">
            <a:avLst/>
          </a:prstGeom>
          <a:solidFill>
            <a:srgbClr val="FCB021">
              <a:alpha val="80000"/>
            </a:srgbClr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86016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94576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SSDimitrov24</a:t>
            </a:r>
            <a:endParaRPr lang="en-US" sz="1000" dirty="0"/>
          </a:p>
        </p:txBody>
      </p:sp>
      <p:pic>
        <p:nvPicPr>
          <p:cNvPr id="1026" name="Picture 2" descr="View iglapchev24's full-sized avatar">
            <a:extLst>
              <a:ext uri="{FF2B5EF4-FFF2-40B4-BE49-F238E27FC236}">
                <a16:creationId xmlns:a16="http://schemas.microsoft.com/office/drawing/2014/main" id="{63937652-F2CC-C4B9-F578-DFA4CCE3F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102" y="1356125"/>
            <a:ext cx="1073365" cy="107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50A0BAC-B784-6833-D8DA-4F842DDF4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" y="1351553"/>
            <a:ext cx="1073365" cy="107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View ZDKostov24's full-sized avatar">
            <a:extLst>
              <a:ext uri="{FF2B5EF4-FFF2-40B4-BE49-F238E27FC236}">
                <a16:creationId xmlns:a16="http://schemas.microsoft.com/office/drawing/2014/main" id="{5FF1F0AE-DEFD-0E1C-2ACA-05D6D8372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925" y="1351552"/>
            <a:ext cx="1073365" cy="107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View SSDimitrov24's full-sized avatar">
            <a:extLst>
              <a:ext uri="{FF2B5EF4-FFF2-40B4-BE49-F238E27FC236}">
                <a16:creationId xmlns:a16="http://schemas.microsoft.com/office/drawing/2014/main" id="{7C6CFBF7-5883-C051-CFBD-3BF57DB4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164" y="1318144"/>
            <a:ext cx="1095872" cy="109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627"/>
          </a:solidFill>
          <a:ln w="12700">
            <a:solidFill>
              <a:srgbClr val="141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Project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EduCore?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is a desktop educational application designed to help students learn, practise, and test their knowledge of Mathematics.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C++ using the raylib graphics library, it features a clean dark-themed interface with structured learning materials, interactive exercises, timed multiple-choice tests, and an automatic gradebook.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200400" cy="1005840"/>
          </a:xfrm>
          <a:prstGeom prst="rect">
            <a:avLst/>
          </a:prstGeom>
          <a:solidFill>
            <a:srgbClr val="141627"/>
          </a:solidFill>
          <a:ln w="19050">
            <a:solidFill>
              <a:srgbClr val="00A8B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91440" cy="1005840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0644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0644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Bank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2331720"/>
            <a:ext cx="3200400" cy="1005840"/>
          </a:xfrm>
          <a:prstGeom prst="rect">
            <a:avLst/>
          </a:prstGeom>
          <a:solidFill>
            <a:srgbClr val="141627"/>
          </a:solidFill>
          <a:ln w="19050">
            <a:solidFill>
              <a:srgbClr val="00A0E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77840" y="2331720"/>
            <a:ext cx="91440" cy="1005840"/>
          </a:xfrm>
          <a:prstGeom prst="rect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0644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0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80644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Test (Random)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3566160"/>
            <a:ext cx="3200400" cy="1005840"/>
          </a:xfrm>
          <a:prstGeom prst="rect">
            <a:avLst/>
          </a:prstGeom>
          <a:solidFill>
            <a:srgbClr val="141627"/>
          </a:solidFill>
          <a:ln w="19050">
            <a:solidFill>
              <a:srgbClr val="FCB02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77840" y="3566160"/>
            <a:ext cx="91440" cy="1005840"/>
          </a:xfrm>
          <a:prstGeom prst="rect">
            <a:avLst/>
          </a:prstGeom>
          <a:solidFill>
            <a:srgbClr val="FCB021"/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06440" y="3611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CB0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06440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Scale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1097280" cy="365760"/>
          </a:xfrm>
          <a:prstGeom prst="rect">
            <a:avLst/>
          </a:prstGeom>
          <a:solidFill>
            <a:srgbClr val="0770B6">
              <a:alpha val="70000"/>
            </a:srgbClr>
          </a:solidFill>
          <a:ln w="12700">
            <a:solidFill>
              <a:srgbClr val="0770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65960" y="4206240"/>
            <a:ext cx="1097280" cy="365760"/>
          </a:xfrm>
          <a:prstGeom prst="rect">
            <a:avLst/>
          </a:prstGeom>
          <a:solidFill>
            <a:srgbClr val="0770B6">
              <a:alpha val="70000"/>
            </a:srgbClr>
          </a:solidFill>
          <a:ln w="12700">
            <a:solidFill>
              <a:srgbClr val="0770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6596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raylib 5.5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9636" y="4206240"/>
            <a:ext cx="1097280" cy="365760"/>
          </a:xfrm>
          <a:prstGeom prst="rect">
            <a:avLst/>
          </a:prstGeom>
          <a:solidFill>
            <a:srgbClr val="0770B6">
              <a:alpha val="70000"/>
            </a:srgbClr>
          </a:solidFill>
          <a:ln w="12700">
            <a:solidFill>
              <a:srgbClr val="0770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1" y="355912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627"/>
          </a:solidFill>
          <a:ln w="12700">
            <a:solidFill>
              <a:srgbClr val="141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CB021"/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074420"/>
            <a:ext cx="4160520" cy="1691640"/>
          </a:xfrm>
          <a:prstGeom prst="rect">
            <a:avLst/>
          </a:prstGeom>
          <a:solidFill>
            <a:srgbClr val="141627"/>
          </a:solidFill>
          <a:ln w="15240">
            <a:solidFill>
              <a:srgbClr val="00A8B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64008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00A8B4">
              <a:alpha val="7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Materials &amp; Lessons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82176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theory tabs covering Product, Linear, Quadratic &amp; Homogeneous equations with worked examples.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1691640"/>
          </a:xfrm>
          <a:prstGeom prst="rect">
            <a:avLst/>
          </a:prstGeom>
          <a:solidFill>
            <a:srgbClr val="141627"/>
          </a:solidFill>
          <a:ln w="15240">
            <a:solidFill>
              <a:srgbClr val="00A0E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60520" cy="64008"/>
          </a:xfrm>
          <a:prstGeom prst="rect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502920" cy="502920"/>
          </a:xfrm>
          <a:prstGeom prst="ellipse">
            <a:avLst/>
          </a:prstGeom>
          <a:solidFill>
            <a:srgbClr val="00A0E9">
              <a:alpha val="75000"/>
            </a:srgbClr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234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 &amp; Practice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 — Homework with solutions shown, and Practice with 10 interactive multiple-choice questions.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141627"/>
          </a:solidFill>
          <a:ln w="15240">
            <a:solidFill>
              <a:srgbClr val="FCB02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64008"/>
          </a:xfrm>
          <a:prstGeom prst="rect">
            <a:avLst/>
          </a:prstGeom>
          <a:solidFill>
            <a:srgbClr val="FCB021"/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FCB021">
              <a:alpha val="75000"/>
            </a:srgbClr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Timed Tests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371035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randomly selected questions from a bank of 30. Answers are shuffled each time to prevent pattern memorisation.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60520" cy="1691640"/>
          </a:xfrm>
          <a:prstGeom prst="rect">
            <a:avLst/>
          </a:prstGeom>
          <a:solidFill>
            <a:srgbClr val="141627"/>
          </a:solidFill>
          <a:ln w="15240">
            <a:solidFill>
              <a:srgbClr val="00A8B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160520" cy="64008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00A8B4">
              <a:alpha val="75000"/>
            </a:srgbClr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3154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Gradebook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92040" y="3710354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results saved automatically with score, percentage, grade (2–6 formula) and date. Average calculated.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627"/>
          </a:solidFill>
          <a:ln w="12700">
            <a:solidFill>
              <a:srgbClr val="141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Progress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23774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01.03 – 07.03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377440" cy="3108960"/>
          </a:xfrm>
          <a:prstGeom prst="rect">
            <a:avLst/>
          </a:prstGeom>
          <a:solidFill>
            <a:srgbClr val="0A153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4274820"/>
            <a:ext cx="2377440" cy="571500"/>
          </a:xfrm>
          <a:prstGeom prst="rect">
            <a:avLst/>
          </a:prstGeom>
          <a:solidFill>
            <a:srgbClr val="4A80C4"/>
          </a:solidFill>
          <a:ln w="12700">
            <a:solidFill>
              <a:srgbClr val="6AAA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83280" y="1051560"/>
            <a:ext cx="23774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051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08.03 – 14.03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377440" cy="3108960"/>
          </a:xfrm>
          <a:prstGeom prst="rect">
            <a:avLst/>
          </a:prstGeom>
          <a:solidFill>
            <a:srgbClr val="0A153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3032760"/>
            <a:ext cx="2377440" cy="1813560"/>
          </a:xfrm>
          <a:prstGeom prst="rect">
            <a:avLst/>
          </a:prstGeom>
          <a:solidFill>
            <a:srgbClr val="4A80C4"/>
          </a:solidFill>
          <a:ln w="12700">
            <a:solidFill>
              <a:srgbClr val="6AAA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83280" y="3032760"/>
            <a:ext cx="2377440" cy="181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37744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051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15.03 – 21.03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377440" cy="3108960"/>
          </a:xfrm>
          <a:prstGeom prst="rect">
            <a:avLst/>
          </a:prstGeom>
          <a:solidFill>
            <a:srgbClr val="0A1530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2377440" cy="2971800"/>
          </a:xfrm>
          <a:prstGeom prst="rect">
            <a:avLst/>
          </a:prstGeom>
          <a:solidFill>
            <a:srgbClr val="4A80C4"/>
          </a:solidFill>
          <a:ln w="12700">
            <a:solidFill>
              <a:srgbClr val="6AA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73736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A2BB9F-FBA9-1AE3-9C5C-14BD18CD78F0}"/>
              </a:ext>
            </a:extLst>
          </p:cNvPr>
          <p:cNvSpPr txBox="1"/>
          <p:nvPr/>
        </p:nvSpPr>
        <p:spPr>
          <a:xfrm>
            <a:off x="1498209" y="4237404"/>
            <a:ext cx="8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rebuchet MS" panose="020B0603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B4"/>
          </a:solidFill>
          <a:ln w="12700">
            <a:solidFill>
              <a:srgbClr val="00A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CB021"/>
          </a:solidFill>
          <a:ln w="12700">
            <a:solidFill>
              <a:srgbClr val="FCB0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A8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514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CB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continue with the demo!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0770B6"/>
          </a:solidFill>
          <a:ln w="12700">
            <a:solidFill>
              <a:srgbClr val="0770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Ivanov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42032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Lapchev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26864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Zlatin Kostov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11696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Svetoslav Dimitrov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247</Words>
  <Application>Microsoft Office PowerPoint</Application>
  <PresentationFormat>On-screen Show (16:9)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EduCore — Електронно Училище</dc:title>
  <dc:subject>PptxGenJS Presentation</dc:subject>
  <dc:creator>PptxGenJS</dc:creator>
  <cp:lastModifiedBy>Антонио Ивов Иванов</cp:lastModifiedBy>
  <cp:revision>2</cp:revision>
  <dcterms:created xsi:type="dcterms:W3CDTF">2026-03-22T15:27:07Z</dcterms:created>
  <dcterms:modified xsi:type="dcterms:W3CDTF">2026-03-22T15:44:58Z</dcterms:modified>
</cp:coreProperties>
</file>